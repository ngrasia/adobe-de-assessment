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9" roundtripDataSignature="AMtx7miVz33KGbtrD0gG3vDndNBEk1KRR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oogle Shape;16;p1"/>
          <p:cNvGrpSpPr/>
          <p:nvPr/>
        </p:nvGrpSpPr>
        <p:grpSpPr>
          <a:xfrm>
            <a:off x="0" y="0"/>
            <a:ext cx="9144000" cy="5148072"/>
            <a:chOff x="0" y="0"/>
            <a:chExt cx="9144000" cy="5148072"/>
          </a:xfrm>
        </p:grpSpPr>
        <p:sp>
          <p:nvSpPr>
            <p:cNvPr id="17" name="Google Shape;17;p1"/>
            <p:cNvSpPr/>
            <p:nvPr/>
          </p:nvSpPr>
          <p:spPr>
            <a:xfrm>
              <a:off x="0" y="0"/>
              <a:ext cx="9144000" cy="64008"/>
            </a:xfrm>
            <a:prstGeom prst="rect">
              <a:avLst/>
            </a:prstGeom>
            <a:solidFill>
              <a:srgbClr val="1A1A1A"/>
            </a:solidFill>
            <a:ln cap="flat" cmpd="sng" w="12700">
              <a:solidFill>
                <a:srgbClr val="1A1A1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1"/>
            <p:cNvSpPr/>
            <p:nvPr/>
          </p:nvSpPr>
          <p:spPr>
            <a:xfrm>
              <a:off x="411480" y="256032"/>
              <a:ext cx="8321040" cy="1417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A1A1A"/>
                </a:buClr>
                <a:buSzPts val="3600"/>
                <a:buFont typeface="Arial"/>
                <a:buNone/>
              </a:pPr>
              <a:r>
                <a:rPr b="1" i="0" lang="en-US" sz="3600" u="none" cap="none" strike="noStrike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Search Keyword</a:t>
              </a:r>
              <a:endPara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A1A1A"/>
                </a:buClr>
                <a:buSzPts val="3600"/>
                <a:buFont typeface="Arial"/>
                <a:buNone/>
              </a:pPr>
              <a:r>
                <a:rPr b="1" i="0" lang="en-US" sz="3600" u="none" cap="none" strike="noStrike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Revenue Attribution</a:t>
              </a:r>
              <a:endPara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9;p1"/>
            <p:cNvSpPr/>
            <p:nvPr/>
          </p:nvSpPr>
          <p:spPr>
            <a:xfrm>
              <a:off x="411480" y="1783080"/>
              <a:ext cx="8321040" cy="18288"/>
            </a:xfrm>
            <a:prstGeom prst="rect">
              <a:avLst/>
            </a:prstGeom>
            <a:solidFill>
              <a:srgbClr val="F2F2F2"/>
            </a:solidFill>
            <a:ln cap="flat" cmpd="sng" w="12700">
              <a:solidFill>
                <a:srgbClr val="F2F2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1"/>
            <p:cNvSpPr/>
            <p:nvPr/>
          </p:nvSpPr>
          <p:spPr>
            <a:xfrm>
              <a:off x="411480" y="1901952"/>
              <a:ext cx="8321040" cy="2560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2563EB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rgbClr val="2563EB"/>
                  </a:solidFill>
                  <a:latin typeface="Arial"/>
                  <a:ea typeface="Arial"/>
                  <a:cs typeface="Arial"/>
                  <a:sym typeface="Arial"/>
                </a:rPr>
                <a:t>BUSINESS QUESTION</a:t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21;p1"/>
            <p:cNvSpPr/>
            <p:nvPr/>
          </p:nvSpPr>
          <p:spPr>
            <a:xfrm>
              <a:off x="411480" y="2194560"/>
              <a:ext cx="8321040" cy="10058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4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A1A1A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Which external search engines and keywords are responsible for the client's revenue?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4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A1A1A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The client needs a ranked report — sorted by revenue — to understand which paid and organic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4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A1A1A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search channels are performing.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22;p1"/>
            <p:cNvSpPr/>
            <p:nvPr/>
          </p:nvSpPr>
          <p:spPr>
            <a:xfrm>
              <a:off x="411480" y="3310128"/>
              <a:ext cx="4023360" cy="2560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2563EB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rgbClr val="2563EB"/>
                  </a:solidFill>
                  <a:latin typeface="Arial"/>
                  <a:ea typeface="Arial"/>
                  <a:cs typeface="Arial"/>
                  <a:sym typeface="Arial"/>
                </a:rPr>
                <a:t>INPUT DATA</a:t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23;p1"/>
            <p:cNvSpPr/>
            <p:nvPr/>
          </p:nvSpPr>
          <p:spPr>
            <a:xfrm>
              <a:off x="4617720" y="3310128"/>
              <a:ext cx="4114800" cy="2560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2563EB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rgbClr val="2563EB"/>
                  </a:solidFill>
                  <a:latin typeface="Arial"/>
                  <a:ea typeface="Arial"/>
                  <a:cs typeface="Arial"/>
                  <a:sym typeface="Arial"/>
                </a:rPr>
                <a:t>EXPECTED OUTPUT</a:t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24;p1"/>
            <p:cNvSpPr/>
            <p:nvPr/>
          </p:nvSpPr>
          <p:spPr>
            <a:xfrm>
              <a:off x="411480" y="3602736"/>
              <a:ext cx="4023360" cy="10058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4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A1A1A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Tab-separated hit-level file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4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A1A1A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— one row per visitor action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4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A1A1A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— fields: ip · referrer · event_list · product_list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25;p1"/>
            <p:cNvSpPr/>
            <p:nvPr/>
          </p:nvSpPr>
          <p:spPr>
            <a:xfrm>
              <a:off x="4617720" y="3602736"/>
              <a:ext cx="4114800" cy="10058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4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A1A1A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Tab-delimited file, sorted by revenue DESC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4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A1A1A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— Search Engine Domain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4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A1A1A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— Search Keyword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4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A1A1A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— Revenue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26;p1"/>
            <p:cNvSpPr/>
            <p:nvPr/>
          </p:nvSpPr>
          <p:spPr>
            <a:xfrm>
              <a:off x="4544568" y="3291840"/>
              <a:ext cx="18288" cy="1554480"/>
            </a:xfrm>
            <a:prstGeom prst="rect">
              <a:avLst/>
            </a:prstGeom>
            <a:solidFill>
              <a:srgbClr val="F2F2F2"/>
            </a:solidFill>
            <a:ln cap="flat" cmpd="sng" w="12700">
              <a:solidFill>
                <a:srgbClr val="F2F2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1"/>
            <p:cNvSpPr/>
            <p:nvPr/>
          </p:nvSpPr>
          <p:spPr>
            <a:xfrm>
              <a:off x="0" y="5001768"/>
              <a:ext cx="9144000" cy="146304"/>
            </a:xfrm>
            <a:prstGeom prst="rect">
              <a:avLst/>
            </a:prstGeom>
            <a:solidFill>
              <a:srgbClr val="F2F2F2"/>
            </a:solidFill>
            <a:ln cap="flat" cmpd="sng" w="12700">
              <a:solidFill>
                <a:srgbClr val="F2F2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oogle Shape;33;p2"/>
          <p:cNvGrpSpPr/>
          <p:nvPr/>
        </p:nvGrpSpPr>
        <p:grpSpPr>
          <a:xfrm>
            <a:off x="0" y="0"/>
            <a:ext cx="9144000" cy="5148072"/>
            <a:chOff x="0" y="0"/>
            <a:chExt cx="9144000" cy="5148072"/>
          </a:xfrm>
        </p:grpSpPr>
        <p:sp>
          <p:nvSpPr>
            <p:cNvPr id="34" name="Google Shape;34;p2"/>
            <p:cNvSpPr/>
            <p:nvPr/>
          </p:nvSpPr>
          <p:spPr>
            <a:xfrm>
              <a:off x="0" y="0"/>
              <a:ext cx="9144000" cy="64008"/>
            </a:xfrm>
            <a:prstGeom prst="rect">
              <a:avLst/>
            </a:prstGeom>
            <a:solidFill>
              <a:srgbClr val="1A1A1A"/>
            </a:solidFill>
            <a:ln cap="flat" cmpd="sng" w="12700">
              <a:solidFill>
                <a:srgbClr val="1A1A1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411480" y="256032"/>
              <a:ext cx="8321040" cy="594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A1A1A"/>
                </a:buClr>
                <a:buSzPts val="2800"/>
                <a:buFont typeface="Arial"/>
                <a:buNone/>
              </a:pPr>
              <a:r>
                <a:rPr b="1" i="0" lang="en-US" sz="2800" u="none" cap="none" strike="noStrike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Two-Pass First-Touch Attribution</a:t>
              </a:r>
              <a:endPara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411480" y="914400"/>
              <a:ext cx="8321040" cy="18288"/>
            </a:xfrm>
            <a:prstGeom prst="rect">
              <a:avLst/>
            </a:prstGeom>
            <a:solidFill>
              <a:srgbClr val="F2F2F2"/>
            </a:solidFill>
            <a:ln cap="flat" cmpd="sng" w="12700">
              <a:solidFill>
                <a:srgbClr val="F2F2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411480" y="1024128"/>
              <a:ext cx="8321040" cy="2560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2563EB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rgbClr val="2563EB"/>
                  </a:solidFill>
                  <a:latin typeface="Arial"/>
                  <a:ea typeface="Arial"/>
                  <a:cs typeface="Arial"/>
                  <a:sym typeface="Arial"/>
                </a:rPr>
                <a:t>STRATEGY</a:t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411480" y="1316736"/>
              <a:ext cx="8321040" cy="6400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4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A1A1A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Session key = IP address.  Attribution model = first-touch: the first search-engine referrer per session gets credit for any purchase that session makes.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411480" y="2084832"/>
              <a:ext cx="420624" cy="420624"/>
            </a:xfrm>
            <a:prstGeom prst="rect">
              <a:avLst/>
            </a:prstGeom>
            <a:solidFill>
              <a:srgbClr val="1A1A1A"/>
            </a:solidFill>
            <a:ln cap="flat" cmpd="sng" w="12700">
              <a:solidFill>
                <a:srgbClr val="1A1A1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411480" y="2054576"/>
              <a:ext cx="420600" cy="42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300"/>
                <a:buFont typeface="Arial"/>
                <a:buNone/>
              </a:pPr>
              <a:r>
                <a:rPr b="1" i="0" lang="en-US" sz="13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923544" y="2103120"/>
              <a:ext cx="2286000" cy="3840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A1A1A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Map sessions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411480" y="2606040"/>
              <a:ext cx="2788920" cy="12344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4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A1A1A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Pass 1 — walk every row in time order.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4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A1A1A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For each IP record the first referrer that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4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A1A1A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matches a known search engine domain.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411480" y="3913632"/>
              <a:ext cx="2788920" cy="36576"/>
            </a:xfrm>
            <a:prstGeom prst="rect">
              <a:avLst/>
            </a:prstGeom>
            <a:solidFill>
              <a:srgbClr val="2563EB"/>
            </a:solidFill>
            <a:ln cap="flat" cmpd="sng" w="12700">
              <a:solidFill>
                <a:srgbClr val="2563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3291840" y="2084832"/>
              <a:ext cx="420624" cy="420624"/>
            </a:xfrm>
            <a:prstGeom prst="rect">
              <a:avLst/>
            </a:prstGeom>
            <a:solidFill>
              <a:srgbClr val="1A1A1A"/>
            </a:solidFill>
            <a:ln cap="flat" cmpd="sng" w="12700">
              <a:solidFill>
                <a:srgbClr val="1A1A1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3291840" y="2084832"/>
              <a:ext cx="420624" cy="4206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300"/>
                <a:buFont typeface="Arial"/>
                <a:buNone/>
              </a:pPr>
              <a:r>
                <a:rPr b="1" i="0" lang="en-US" sz="13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02</a:t>
              </a:r>
              <a:endPara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3803904" y="2103120"/>
              <a:ext cx="2286000" cy="3840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A1A1A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Attribute revenue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3291840" y="2606040"/>
              <a:ext cx="2788920" cy="12344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4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A1A1A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Pass 2 — on purchase events, look up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4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A1A1A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which search engine started that session.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4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A1A1A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Accumulate revenue to (domain, keyword).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3291840" y="3913632"/>
              <a:ext cx="2788920" cy="36576"/>
            </a:xfrm>
            <a:prstGeom prst="rect">
              <a:avLst/>
            </a:prstGeom>
            <a:solidFill>
              <a:srgbClr val="2563EB"/>
            </a:solidFill>
            <a:ln cap="flat" cmpd="sng" w="12700">
              <a:solidFill>
                <a:srgbClr val="2563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6172200" y="2084832"/>
              <a:ext cx="420624" cy="420624"/>
            </a:xfrm>
            <a:prstGeom prst="rect">
              <a:avLst/>
            </a:prstGeom>
            <a:solidFill>
              <a:srgbClr val="1A1A1A"/>
            </a:solidFill>
            <a:ln cap="flat" cmpd="sng" w="12700">
              <a:solidFill>
                <a:srgbClr val="1A1A1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6172200" y="2084832"/>
              <a:ext cx="420624" cy="4206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300"/>
                <a:buFont typeface="Arial"/>
                <a:buNone/>
              </a:pPr>
              <a:r>
                <a:rPr b="1" i="0" lang="en-US" sz="13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03</a:t>
              </a:r>
              <a:endPara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6684264" y="2103120"/>
              <a:ext cx="2286000" cy="3840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A1A1A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Rank &amp; write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6172200" y="2606040"/>
              <a:ext cx="2788920" cy="12344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4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A1A1A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Sort results by revenue descending.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4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A1A1A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Write tab-delimited output file with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4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A1A1A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the date of the data in the filename.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6172200" y="3913632"/>
              <a:ext cx="2788920" cy="36576"/>
            </a:xfrm>
            <a:prstGeom prst="rect">
              <a:avLst/>
            </a:prstGeom>
            <a:solidFill>
              <a:srgbClr val="2563EB"/>
            </a:solidFill>
            <a:ln cap="flat" cmpd="sng" w="12700">
              <a:solidFill>
                <a:srgbClr val="2563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411480" y="4069080"/>
              <a:ext cx="8321040" cy="2560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2563EB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rgbClr val="2563EB"/>
                  </a:solidFill>
                  <a:latin typeface="Arial"/>
                  <a:ea typeface="Arial"/>
                  <a:cs typeface="Arial"/>
                  <a:sym typeface="Arial"/>
                </a:rPr>
                <a:t>KEY DETAIL</a:t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411480" y="4352544"/>
              <a:ext cx="8321040" cy="5029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4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AAAAA"/>
                </a:buClr>
                <a:buSzPts val="1200"/>
                <a:buFont typeface="Arial"/>
                <a:buNone/>
              </a:pPr>
              <a:r>
                <a:rPr b="0" i="1" lang="en-US" sz="1200" u="none" cap="none" strike="noStrike">
                  <a:solidFill>
                    <a:srgbClr val="AAAAAA"/>
                  </a:solidFill>
                  <a:latin typeface="Arial"/>
                  <a:ea typeface="Arial"/>
                  <a:cs typeface="Arial"/>
                  <a:sym typeface="Arial"/>
                </a:rPr>
                <a:t>is_purchase() uses split + exact-match, not string search.  "1" in "10" is True in Python — the split prevents cart-open events (code 10) from being counted as purchases.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0" y="5001768"/>
              <a:ext cx="9144000" cy="146304"/>
            </a:xfrm>
            <a:prstGeom prst="rect">
              <a:avLst/>
            </a:prstGeom>
            <a:solidFill>
              <a:srgbClr val="F2F2F2"/>
            </a:solidFill>
            <a:ln cap="flat" cmpd="sng" w="12700">
              <a:solidFill>
                <a:srgbClr val="F2F2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1A1A"/>
          </a:solidFill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411480" y="256032"/>
            <a:ext cx="8321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Current Architecture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411480" y="914400"/>
            <a:ext cx="8321040" cy="18288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274320" y="1371600"/>
            <a:ext cx="1508760" cy="1371600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365760" y="1481328"/>
            <a:ext cx="1325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Input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365760" y="2121408"/>
            <a:ext cx="1325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File upload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trigger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1783080" y="2039112"/>
            <a:ext cx="502920" cy="18288"/>
          </a:xfrm>
          <a:prstGeom prst="rect">
            <a:avLst/>
          </a:prstGeom>
          <a:solidFill>
            <a:srgbClr val="BBBBBB"/>
          </a:solidFill>
          <a:ln cap="flat" cmpd="sng" w="12700">
            <a:solidFill>
              <a:srgbClr val="BBBB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2011680" y="1371600"/>
            <a:ext cx="1508760" cy="1371600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2103120" y="1481328"/>
            <a:ext cx="1325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Event-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Bridge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2103120" y="2121408"/>
            <a:ext cx="1325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Rule filter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on .sql suffix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3520440" y="2039112"/>
            <a:ext cx="502920" cy="18288"/>
          </a:xfrm>
          <a:prstGeom prst="rect">
            <a:avLst/>
          </a:prstGeom>
          <a:solidFill>
            <a:srgbClr val="BBBBBB"/>
          </a:solidFill>
          <a:ln cap="flat" cmpd="sng" w="12700">
            <a:solidFill>
              <a:srgbClr val="BBBB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3749040" y="1371600"/>
            <a:ext cx="1508760" cy="1371600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3840480" y="1481328"/>
            <a:ext cx="1325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Python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3840480" y="2121408"/>
            <a:ext cx="1325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Download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Process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Upload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5257800" y="2039112"/>
            <a:ext cx="502920" cy="18288"/>
          </a:xfrm>
          <a:prstGeom prst="rect">
            <a:avLst/>
          </a:prstGeom>
          <a:solidFill>
            <a:srgbClr val="BBBBBB"/>
          </a:solidFill>
          <a:ln cap="flat" cmpd="sng" w="12700">
            <a:solidFill>
              <a:srgbClr val="BBBB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"/>
          <p:cNvSpPr/>
          <p:nvPr/>
        </p:nvSpPr>
        <p:spPr>
          <a:xfrm>
            <a:off x="5486400" y="1371600"/>
            <a:ext cx="1508760" cy="1371600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5577840" y="1481328"/>
            <a:ext cx="1325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Core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Logic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5577840" y="2121408"/>
            <a:ext cx="1325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HitDataParser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ReportWriter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6995160" y="2039112"/>
            <a:ext cx="502920" cy="18288"/>
          </a:xfrm>
          <a:prstGeom prst="rect">
            <a:avLst/>
          </a:prstGeom>
          <a:solidFill>
            <a:srgbClr val="BBBBBB"/>
          </a:solidFill>
          <a:ln cap="flat" cmpd="sng" w="12700">
            <a:solidFill>
              <a:srgbClr val="BBBB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7223760" y="1371600"/>
            <a:ext cx="1508760" cy="1371600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"/>
          <p:cNvSpPr/>
          <p:nvPr/>
        </p:nvSpPr>
        <p:spPr>
          <a:xfrm>
            <a:off x="7315200" y="1481328"/>
            <a:ext cx="1325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7315200" y="2121408"/>
            <a:ext cx="1325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Result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.tab file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3749040" y="2743200"/>
            <a:ext cx="1508760" cy="36576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3"/>
          <p:cNvSpPr/>
          <p:nvPr/>
        </p:nvSpPr>
        <p:spPr>
          <a:xfrm>
            <a:off x="411480" y="2926080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DESIGN DECISIONS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411480" y="3291840"/>
            <a:ext cx="36576" cy="292608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"/>
          <p:cNvSpPr/>
          <p:nvPr/>
        </p:nvSpPr>
        <p:spPr>
          <a:xfrm>
            <a:off x="548640" y="3218688"/>
            <a:ext cx="15544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Decoupled logic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2194560" y="3218688"/>
            <a:ext cx="65379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Core module has no AWS imports — runs identically locally and in Lambda.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411480" y="3794760"/>
            <a:ext cx="36576" cy="292608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3"/>
          <p:cNvSpPr/>
          <p:nvPr/>
        </p:nvSpPr>
        <p:spPr>
          <a:xfrm>
            <a:off x="548640" y="3721608"/>
            <a:ext cx="15544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EventBridge trigger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2194560" y="3721608"/>
            <a:ext cx="65379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Rule-based routing. Add a second consumer without touching S3 or the function.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411480" y="4297680"/>
            <a:ext cx="36576" cy="292608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"/>
          <p:cNvSpPr/>
          <p:nvPr/>
        </p:nvSpPr>
        <p:spPr>
          <a:xfrm>
            <a:off x="548640" y="4224528"/>
            <a:ext cx="15544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Least-privilege IAM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2194560" y="4224528"/>
            <a:ext cx="65379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GetObject on input bucket only. PutObject on output bucket only. Nothing else.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0" y="5001768"/>
            <a:ext cx="9144000" cy="146304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1A1A"/>
          </a:solidFill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"/>
          <p:cNvSpPr/>
          <p:nvPr/>
        </p:nvSpPr>
        <p:spPr>
          <a:xfrm>
            <a:off x="411480" y="256032"/>
            <a:ext cx="8321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Scalability Roadmap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411480" y="914400"/>
            <a:ext cx="8321040" cy="18288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411480" y="1024128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CORE PRINCIPLE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411480" y="1316736"/>
            <a:ext cx="8321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The business logic in HitDataParser is engine-agnostic.  The execution layer scales independently — no rewrite of the attribution logic required.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365760" y="2103120"/>
            <a:ext cx="2743200" cy="2606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"/>
          <p:cNvSpPr/>
          <p:nvPr/>
        </p:nvSpPr>
        <p:spPr>
          <a:xfrm>
            <a:off x="365760" y="2103120"/>
            <a:ext cx="2743200" cy="438912"/>
          </a:xfrm>
          <a:prstGeom prst="rect">
            <a:avLst/>
          </a:prstGeom>
          <a:solidFill>
            <a:srgbClr val="1A1A1A"/>
          </a:solidFill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"/>
          <p:cNvSpPr/>
          <p:nvPr/>
        </p:nvSpPr>
        <p:spPr>
          <a:xfrm>
            <a:off x="475488" y="2103120"/>
            <a:ext cx="27432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 500 MB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475488" y="2633472"/>
            <a:ext cx="2514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475488" y="3090672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— Current solution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475488" y="3493008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— Serverless — zero infra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475488" y="3895344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— Free tier covers this volume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475488" y="4700924"/>
            <a:ext cx="2514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CURRENT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3246120" y="2103120"/>
            <a:ext cx="2743200" cy="2606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3246120" y="2103120"/>
            <a:ext cx="2743200" cy="438912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"/>
          <p:cNvSpPr/>
          <p:nvPr/>
        </p:nvSpPr>
        <p:spPr>
          <a:xfrm>
            <a:off x="3355848" y="2103120"/>
            <a:ext cx="27432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500 MB – 50 GB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3355848" y="2633472"/>
            <a:ext cx="2514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AWS Glue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3355848" y="3090672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— Serverless Spark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3355848" y="3493008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— Same logic as PySpark UDFs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3355848" y="3895344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— sam deploy — swap compute layer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6126480" y="2103120"/>
            <a:ext cx="2743200" cy="2606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"/>
          <p:cNvSpPr/>
          <p:nvPr/>
        </p:nvSpPr>
        <p:spPr>
          <a:xfrm>
            <a:off x="6126480" y="2103120"/>
            <a:ext cx="2743200" cy="438912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"/>
          <p:cNvSpPr/>
          <p:nvPr/>
        </p:nvSpPr>
        <p:spPr>
          <a:xfrm>
            <a:off x="6236208" y="2103120"/>
            <a:ext cx="27432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50 GB +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6236208" y="2633472"/>
            <a:ext cx="2514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Amazon EMR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6236208" y="3090672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— Persistent Spark cluster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6236208" y="3493008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— Spot instances — ~70% cost saving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6236208" y="3895344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— Full Spark config control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0" y="5001768"/>
            <a:ext cx="9144000" cy="146304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411480" y="5006340"/>
            <a:ext cx="832104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Lambda → Glue → EMR  ·  Same business logic, different execution engine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2026-03-22T22:12:54Z</dcterms:created>
  <dc:creator>PptxGenJS</dc:creator>
</cp:coreProperties>
</file>